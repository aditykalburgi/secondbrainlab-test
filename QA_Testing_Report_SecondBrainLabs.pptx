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Test Type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 Types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2FF"/>
              </a:solidFill>
              <a:effectLst/>
            </c:spPr>
          </c:dPt>
          <c:dPt>
            <c:idx val="1"/>
            <c:bubble3D val="0"/>
            <c:spPr>
              <a:solidFill>
                <a:srgbClr val="FF4757"/>
              </a:solidFill>
              <a:effectLst/>
            </c:spPr>
          </c:dPt>
          <c:dPt>
            <c:idx val="2"/>
            <c:bubble3D val="0"/>
            <c:spPr>
              <a:solidFill>
                <a:srgbClr val="00D4AA"/>
              </a:solidFill>
              <a:effectLst/>
            </c:spPr>
          </c:dPt>
          <c:dPt>
            <c:idx val="3"/>
            <c:bubble3D val="0"/>
            <c:spPr>
              <a:solidFill>
                <a:srgbClr val="FF8C00"/>
              </a:solidFill>
              <a:effectLst/>
            </c:spPr>
          </c:dPt>
          <c:dPt>
            <c:idx val="4"/>
            <c:bubble3D val="0"/>
            <c:spPr>
              <a:solidFill>
                <a:srgbClr val="8B5CF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Functional</c:v>
                </c:pt>
                <c:pt idx="1">
                  <c:v>Security</c:v>
                </c:pt>
                <c:pt idx="2">
                  <c:v>UI/Visual</c:v>
                </c:pt>
                <c:pt idx="3">
                  <c:v>API Testing</c:v>
                </c:pt>
                <c:pt idx="4">
                  <c:v>Cross-Browser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20</c:v>
                </c:pt>
                <c:pt idx="2">
                  <c:v>25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5D5E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294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Test Results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Pass/Fail by Category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Authentication</c:v>
                  </c:pt>
                  <c:pt idx="1">
                    <c:v>Campaign Mgmt</c:v>
                  </c:pt>
                  <c:pt idx="2">
                    <c:v>Security Tests</c:v>
                  </c:pt>
                  <c:pt idx="3">
                    <c:v>UI/Visual</c:v>
                  </c:pt>
                  <c:pt idx="4">
                    <c:v>API Tests</c:v>
                  </c:pt>
                  <c:pt idx="5">
                    <c:v>Input Valid.</c:v>
                  </c:pt>
                  <c:pt idx="6">
                    <c:v>Cross-Browser</c:v>
                  </c:pt>
                  <c:pt idx="7">
                    <c:v>Performance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rgbClr val="FF4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Authentication</c:v>
                  </c:pt>
                  <c:pt idx="1">
                    <c:v>Campaign Mgmt</c:v>
                  </c:pt>
                  <c:pt idx="2">
                    <c:v>Security Tests</c:v>
                  </c:pt>
                  <c:pt idx="3">
                    <c:v>UI/Visual</c:v>
                  </c:pt>
                  <c:pt idx="4">
                    <c:v>API Tests</c:v>
                  </c:pt>
                  <c:pt idx="5">
                    <c:v>Input Valid.</c:v>
                  </c:pt>
                  <c:pt idx="6">
                    <c:v>Cross-Browser</c:v>
                  </c:pt>
                  <c:pt idx="7">
                    <c:v>Performance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5E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5E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5D5E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294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Severity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4757"/>
              </a:solidFill>
              <a:effectLst/>
            </c:spPr>
          </c:dPt>
          <c:dPt>
            <c:idx val="1"/>
            <c:bubble3D val="0"/>
            <c:spPr>
              <a:solidFill>
                <a:srgbClr val="FF8C00"/>
              </a:solidFill>
              <a:effectLst/>
            </c:spPr>
          </c:dPt>
          <c:dPt>
            <c:idx val="2"/>
            <c:bubble3D val="0"/>
            <c:spPr>
              <a:solidFill>
                <a:srgbClr val="00D4A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</c:v>
                </c:pt>
                <c:pt idx="1">
                  <c:v>8</c:v>
                </c:pt>
                <c:pt idx="2">
                  <c:v>13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5D5E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294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Risk Score by Issue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 (1–10)</c:v>
                </c:pt>
              </c:strCache>
            </c:strRef>
          </c:tx>
          <c:spPr>
            <a:solidFill>
              <a:srgbClr val="FF4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475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475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C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D4A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475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8C0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Brute Force
Vulnerability</c:v>
                  </c:pt>
                  <c:pt idx="1">
                    <c:v>No CAPTCHA
Protection</c:v>
                  </c:pt>
                  <c:pt idx="2">
                    <c:v>UI Alignment
Issues</c:v>
                  </c:pt>
                  <c:pt idx="3">
                    <c:v>Button
Delay</c:v>
                  </c:pt>
                  <c:pt idx="4">
                    <c:v>Missing Account
Lock</c:v>
                  </c:pt>
                  <c:pt idx="5">
                    <c:v>X-Powered-By
Exposed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4</c:v>
                </c:pt>
                <c:pt idx="3">
                  <c:v>3</c:v>
                </c:pt>
                <c:pt idx="4">
                  <c:v>8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5E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5D5E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2294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365760"/>
            <a:ext cx="73152" cy="4389120"/>
          </a:xfrm>
          <a:prstGeom prst="rect">
            <a:avLst/>
          </a:prstGeom>
          <a:solidFill>
            <a:srgbClr val="00C2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457200"/>
            <a:ext cx="36576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640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TESTING REPORT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10972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SecondBrainLabs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Module Security &amp; Functional Testing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3154680"/>
            <a:ext cx="1097280" cy="54864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1821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7724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Kalburgi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11680" y="3154680"/>
            <a:ext cx="1097280" cy="54864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13" name="Text 10"/>
          <p:cNvSpPr/>
          <p:nvPr/>
        </p:nvSpPr>
        <p:spPr>
          <a:xfrm>
            <a:off x="2011680" y="31821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201168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46120" y="3154680"/>
            <a:ext cx="1097280" cy="54864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16" name="Text 13"/>
          <p:cNvSpPr/>
          <p:nvPr/>
        </p:nvSpPr>
        <p:spPr>
          <a:xfrm>
            <a:off x="3246120" y="31821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324612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480560" y="3154680"/>
            <a:ext cx="1097280" cy="54864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19" name="Text 16"/>
          <p:cNvSpPr/>
          <p:nvPr/>
        </p:nvSpPr>
        <p:spPr>
          <a:xfrm>
            <a:off x="4480560" y="31821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48056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+ Security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https://app.secondbrainlabs.com  |  Windows 11  |  Chrome &amp; Edge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test outcomes at a glance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1920240" cy="173736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17043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228600" y="1993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2816352"/>
            <a:ext cx="1920240" cy="36576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0" name="Shape 8"/>
          <p:cNvSpPr/>
          <p:nvPr/>
        </p:nvSpPr>
        <p:spPr>
          <a:xfrm>
            <a:off x="2404872" y="1097280"/>
            <a:ext cx="1920240" cy="173736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04872" y="117043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404872" y="1993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04872" y="2816352"/>
            <a:ext cx="192024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81144" y="1097280"/>
            <a:ext cx="1920240" cy="173736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81144" y="117043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4581144" y="1993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81144" y="2816352"/>
            <a:ext cx="1920240" cy="36576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18" name="Shape 16"/>
          <p:cNvSpPr/>
          <p:nvPr/>
        </p:nvSpPr>
        <p:spPr>
          <a:xfrm>
            <a:off x="6757416" y="1097280"/>
            <a:ext cx="1920240" cy="173736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57416" y="117043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6757416" y="19933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57416" y="2816352"/>
            <a:ext cx="1920240" cy="36576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2" name="Shape 20"/>
          <p:cNvSpPr/>
          <p:nvPr/>
        </p:nvSpPr>
        <p:spPr>
          <a:xfrm>
            <a:off x="228600" y="3063240"/>
            <a:ext cx="8686800" cy="82296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3182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554480" y="3218688"/>
            <a:ext cx="6858000" cy="3200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5" name="Shape 23"/>
          <p:cNvSpPr/>
          <p:nvPr/>
        </p:nvSpPr>
        <p:spPr>
          <a:xfrm>
            <a:off x="1554480" y="3218688"/>
            <a:ext cx="6291072" cy="3200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6" name="Text 24"/>
          <p:cNvSpPr/>
          <p:nvPr/>
        </p:nvSpPr>
        <p:spPr>
          <a:xfrm>
            <a:off x="8458200" y="32004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91.7%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" y="4041648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Status: </a:t>
            </a:r>
            <a:pPr indent="0" marL="0">
              <a:buNone/>
            </a:pPr>
            <a:r>
              <a:rPr lang="en-US" sz="11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functionality is working well. Authentication, campaign management, and SQL injection protection are all functioning correctly. Key security concerns around </a:t>
            </a:r>
            <a:pPr indent="0" marL="0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and brute-force protection</a:t>
            </a:r>
            <a:pPr indent="0" marL="0">
              <a:buNone/>
            </a:pPr>
            <a:r>
              <a:rPr lang="en-US" sz="11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require immediate attention.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Scope &amp; Coverage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tested and testing methodology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3931920" cy="374904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78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IN SCOPE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417320"/>
            <a:ext cx="109728" cy="10972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89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Authentication System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810512"/>
            <a:ext cx="109728" cy="10972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830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Dashboard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203704"/>
            <a:ext cx="109728" cy="10972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17627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Creation &amp; Editing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596896"/>
            <a:ext cx="109728" cy="10972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56946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Validation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990088"/>
            <a:ext cx="109728" cy="10972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96265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Input Validation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383280"/>
            <a:ext cx="109728" cy="10972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3558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Layout &amp; Responsiveness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776472"/>
            <a:ext cx="109728" cy="10972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7490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169664"/>
            <a:ext cx="109728" cy="10972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1422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 (SQLi, Brute Force)</a:t>
            </a:r>
            <a:endParaRPr lang="en-US" sz="11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434840" y="1005840"/>
          <a:ext cx="44805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4434840" y="4297680"/>
            <a:ext cx="4480560" cy="45720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526280" y="4361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ENV:  Windows 11  |  Chrome  |  Edge  |  Chrome DevTools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status across all test cases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28600" y="100584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5760720" y="1005840"/>
          <a:ext cx="31546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228600" y="4526280"/>
            <a:ext cx="2011680" cy="50292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9" name="Shape 5"/>
          <p:cNvSpPr/>
          <p:nvPr/>
        </p:nvSpPr>
        <p:spPr>
          <a:xfrm>
            <a:off x="228600" y="4526280"/>
            <a:ext cx="54864" cy="50292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0" name="Text 6"/>
          <p:cNvSpPr/>
          <p:nvPr/>
        </p:nvSpPr>
        <p:spPr>
          <a:xfrm>
            <a:off x="365760" y="45445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65760" y="4773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Cases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423160" y="4526280"/>
            <a:ext cx="2011680" cy="50292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13" name="Shape 9"/>
          <p:cNvSpPr/>
          <p:nvPr/>
        </p:nvSpPr>
        <p:spPr>
          <a:xfrm>
            <a:off x="2423160" y="4526280"/>
            <a:ext cx="54864" cy="5029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0"/>
          <p:cNvSpPr/>
          <p:nvPr/>
        </p:nvSpPr>
        <p:spPr>
          <a:xfrm>
            <a:off x="2560320" y="45445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91.7%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2560320" y="4773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617720" y="4526280"/>
            <a:ext cx="2011680" cy="50292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17" name="Shape 13"/>
          <p:cNvSpPr/>
          <p:nvPr/>
        </p:nvSpPr>
        <p:spPr>
          <a:xfrm>
            <a:off x="4617720" y="4526280"/>
            <a:ext cx="54864" cy="502920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18" name="Text 14"/>
          <p:cNvSpPr/>
          <p:nvPr/>
        </p:nvSpPr>
        <p:spPr>
          <a:xfrm>
            <a:off x="4754880" y="45445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754880" y="4773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812280" y="4526280"/>
            <a:ext cx="2011680" cy="50292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21" name="Shape 17"/>
          <p:cNvSpPr/>
          <p:nvPr/>
        </p:nvSpPr>
        <p:spPr>
          <a:xfrm>
            <a:off x="6812280" y="4526280"/>
            <a:ext cx="54864" cy="5029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2" name="Text 18"/>
          <p:cNvSpPr/>
          <p:nvPr/>
        </p:nvSpPr>
        <p:spPr>
          <a:xfrm>
            <a:off x="6949440" y="45445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6949440" y="4773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Severity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Test Cases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test case results &amp; severity mapping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60120"/>
          <a:ext cx="877824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828800"/>
                <a:gridCol w="1920240"/>
                <a:gridCol w="1920240"/>
                <a:gridCol w="685800"/>
                <a:gridCol w="7772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Test Scenario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Result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C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C2FF"/>
                          </a:solidFill>
                        </a:rPr>
                        <a:t>TC01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Login with valid credentials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Successful login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Login successful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D4AA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C2FF"/>
                          </a:solidFill>
                        </a:rPr>
                        <a:t>TC02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Login with invalid password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Error message shown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Error displayed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8C00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C2FF"/>
                          </a:solidFill>
                        </a:rPr>
                        <a:t>TC03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Multiple failed login attempts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Rate limit triggered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No rate limit observed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4757"/>
                          </a:solidFill>
                        </a:rPr>
                        <a:t>FAIL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4757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C2FF"/>
                          </a:solidFill>
                        </a:rPr>
                        <a:t>TC04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Campaign page access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Campaign list loads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Page loads successfully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D4AA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C2FF"/>
                          </a:solidFill>
                        </a:rPr>
                        <a:t>TC05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Campaign creation validation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Validation error shown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Validation works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8C00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C2FF"/>
                          </a:solidFill>
                        </a:rPr>
                        <a:t>TC06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Login with empty fields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Validation message shown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Validation message displayed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8C00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C2FF"/>
                          </a:solidFill>
                        </a:rPr>
                        <a:t>TC07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Button responsiveness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Immediate response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Slight delay observed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4757"/>
                          </a:solidFill>
                        </a:rPr>
                        <a:t>FAIL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8C00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C2FF"/>
                          </a:solidFill>
                        </a:rPr>
                        <a:t>TC08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SQL Injection attempt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Injection blocked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Injection rejected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4757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 Findings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identified and risk assessment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8686800" cy="1115568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73152" cy="1115568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0" y="1097280"/>
            <a:ext cx="1097280" cy="347472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0" y="11247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0789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2618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 Limiting on Login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572768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login endpoint accepts unlimited failed attempts with no lockout or throttling. This exposes the platform to automated brute-force attacks.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267712"/>
            <a:ext cx="8686800" cy="1115568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267712"/>
            <a:ext cx="73152" cy="1115568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15" name="Shape 13"/>
          <p:cNvSpPr/>
          <p:nvPr/>
        </p:nvSpPr>
        <p:spPr>
          <a:xfrm>
            <a:off x="7589520" y="2359152"/>
            <a:ext cx="1097280" cy="347472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2386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3408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52374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CAPTCHA Protection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2834640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CAPTCHA allows bots to perform automated credential stuffing and mass login attempts without human verification.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529584"/>
            <a:ext cx="8686800" cy="1115568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529584"/>
            <a:ext cx="73152" cy="111556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0" y="3621024"/>
            <a:ext cx="1097280" cy="34747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36484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6027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78561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BLOCKED 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096512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payloads entered in login fields were properly rejected. The platform correctly sanitizes malicious input at the authentication layer.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478231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 POST /auth/login → 401 Unauthorized  |  Server: Express  |  No account lock mechanism detected  |  X-Powered-By exposed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Browser Compatibility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issues and cross-browser observations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24128"/>
            <a:ext cx="4114800" cy="320040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24128"/>
            <a:ext cx="4114800" cy="384048"/>
          </a:xfrm>
          <a:prstGeom prst="rect">
            <a:avLst/>
          </a:prstGeom>
          <a:solidFill>
            <a:srgbClr val="0097CC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698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Chrome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0" y="1097280"/>
            <a:ext cx="228600" cy="2286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572768"/>
            <a:ext cx="164592" cy="16459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5453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loaded correctly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20824"/>
            <a:ext cx="164592" cy="16459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9933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worked properly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164592" cy="164592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414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UI alignment issues observed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16936"/>
            <a:ext cx="164592" cy="164592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895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slight delay on Campaign Create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364992"/>
            <a:ext cx="164592" cy="164592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375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overflow in campaign sections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024128"/>
            <a:ext cx="4114800" cy="320040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024128"/>
            <a:ext cx="4114800" cy="384048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10698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Edge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83880" y="1097280"/>
            <a:ext cx="228600" cy="2286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4" name="Shape 22"/>
          <p:cNvSpPr/>
          <p:nvPr/>
        </p:nvSpPr>
        <p:spPr>
          <a:xfrm>
            <a:off x="4709160" y="1572768"/>
            <a:ext cx="164592" cy="16459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15453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functionality worked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020824"/>
            <a:ext cx="164592" cy="16459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19933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was functional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468880"/>
            <a:ext cx="164592" cy="164592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24414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spacing slightly different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916936"/>
            <a:ext cx="164592" cy="164592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28895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rendering differences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3364992"/>
            <a:ext cx="164592" cy="16459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33375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stable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4343400"/>
            <a:ext cx="8458200" cy="68580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11480" y="44074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Issues Identified: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4608576"/>
            <a:ext cx="1920240" cy="25603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7" name="Text 35"/>
          <p:cNvSpPr/>
          <p:nvPr/>
        </p:nvSpPr>
        <p:spPr>
          <a:xfrm>
            <a:off x="438912" y="46268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overflow in sections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32888" y="4608576"/>
            <a:ext cx="1920240" cy="25603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9" name="Text 37"/>
          <p:cNvSpPr/>
          <p:nvPr/>
        </p:nvSpPr>
        <p:spPr>
          <a:xfrm>
            <a:off x="2560320" y="46268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issues on small screens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54296" y="4608576"/>
            <a:ext cx="1920240" cy="25603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1" name="Text 39"/>
          <p:cNvSpPr/>
          <p:nvPr/>
        </p:nvSpPr>
        <p:spPr>
          <a:xfrm>
            <a:off x="4681728" y="46268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spacing inconsistencies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775704" y="4608576"/>
            <a:ext cx="1920240" cy="25603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3" name="Text 41"/>
          <p:cNvSpPr/>
          <p:nvPr/>
        </p:nvSpPr>
        <p:spPr>
          <a:xfrm>
            <a:off x="6803136" y="46268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field length limits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972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&amp; Priority Matrix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risks ranked by likelihood and impact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28600" y="100584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005840"/>
            <a:ext cx="3337560" cy="365760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1078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0" y="1463040"/>
            <a:ext cx="384048" cy="274320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0" y="148132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26480" y="147218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rate limiting on /auth/login endpoint (max 5 attempts / 15 min)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669280" y="1965960"/>
            <a:ext cx="384048" cy="274320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0" y="19842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26480" y="19751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CAPTCHA (reCAPTCHA v3 or hCaptcha) to login page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669280" y="2468880"/>
            <a:ext cx="384048" cy="274320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0" y="248716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126480" y="247802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account lockout mechanism after repeated failures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669280" y="2971800"/>
            <a:ext cx="384048" cy="2743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0" y="299008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126480" y="298094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X-Powered-By header to reduce server fingerprinting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669280" y="3474720"/>
            <a:ext cx="384048" cy="2743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2" name="Text 19"/>
          <p:cNvSpPr/>
          <p:nvPr/>
        </p:nvSpPr>
        <p:spPr>
          <a:xfrm>
            <a:off x="5669280" y="349300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126480" y="348386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Create Campaign button response time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669280" y="3977640"/>
            <a:ext cx="384048" cy="274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5" name="Text 22"/>
          <p:cNvSpPr/>
          <p:nvPr/>
        </p:nvSpPr>
        <p:spPr>
          <a:xfrm>
            <a:off x="5669280" y="399592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126480" y="398678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UI alignment on resolutions &lt; 1366px width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097280" cy="6400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488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SecondBrainLabs Campaign Module demonstrates solid core functionality with well-implemented input validation and SQL injection protection. Two critical security gaps require immediate remediation before production hardening can be considered complete.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0" y="1005840"/>
            <a:ext cx="1783080" cy="82296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20640" y="1005840"/>
            <a:ext cx="1783080" cy="640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1155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12080" y="13898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86600" y="1005840"/>
            <a:ext cx="1783080" cy="82296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086600" y="1005840"/>
            <a:ext cx="1783080" cy="640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11155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Protection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78040" y="13898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20640" y="1965960"/>
            <a:ext cx="1783080" cy="82296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20640" y="1965960"/>
            <a:ext cx="1783080" cy="640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20756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Logic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12080" y="23500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86600" y="1965960"/>
            <a:ext cx="1783080" cy="82296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86600" y="1965960"/>
            <a:ext cx="1783080" cy="64008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20756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78040" y="23500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120640" y="2926080"/>
            <a:ext cx="1783080" cy="82296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20640" y="2926080"/>
            <a:ext cx="1783080" cy="64008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30358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 Protection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12080" y="3310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086600" y="2926080"/>
            <a:ext cx="1783080" cy="82296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086600" y="2926080"/>
            <a:ext cx="1783080" cy="64008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9" name="Text 27"/>
          <p:cNvSpPr/>
          <p:nvPr/>
        </p:nvSpPr>
        <p:spPr>
          <a:xfrm>
            <a:off x="7178040" y="30358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78040" y="3310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74320" y="488289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by: Aditya Kalburgi  |  SecondBrainLabs Platform  | 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Testing Report – SecondBrainLabs</dc:title>
  <dc:subject>PptxGenJS Presentation</dc:subject>
  <dc:creator>PptxGenJS</dc:creator>
  <cp:lastModifiedBy>PptxGenJS</cp:lastModifiedBy>
  <cp:revision>1</cp:revision>
  <dcterms:created xsi:type="dcterms:W3CDTF">2026-03-06T13:49:11Z</dcterms:created>
  <dcterms:modified xsi:type="dcterms:W3CDTF">2026-03-06T13:49:11Z</dcterms:modified>
</cp:coreProperties>
</file>